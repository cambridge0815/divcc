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76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0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6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723" autoAdjust="0"/>
  </p:normalViewPr>
  <p:slideViewPr>
    <p:cSldViewPr snapToGrid="0" showGuides="1">
      <p:cViewPr varScale="1">
        <p:scale>
          <a:sx n="93" d="100"/>
          <a:sy n="93" d="100"/>
        </p:scale>
        <p:origin x="369" y="60"/>
      </p:cViewPr>
      <p:guideLst>
        <p:guide orient="horz" pos="2080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4A3151-0137-412E-9BE2-A3BE7AEEC58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11A408-70FD-4B05-B938-1C939A94778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6CBCA4-43E0-4EAE-B433-A8A8F6F523A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8358E-4C42-4246-8A2C-AE295054156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 rot="0">
            <a:off x="2849245" y="321945"/>
            <a:ext cx="6616700" cy="6186170"/>
            <a:chOff x="2849366" y="395556"/>
            <a:chExt cx="6616558" cy="6185992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000000">
                    <a:alpha val="0"/>
                  </a:srgbClr>
                </a:clrFrom>
                <a:clrTo>
                  <a:srgbClr val="000000">
                    <a:alpha val="0"/>
                  </a:srgbClr>
                </a:clrTo>
              </a:clrChange>
              <a:duotone>
                <a:prstClr val="black"/>
                <a:schemeClr val="accent6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253" b="5179"/>
            <a:stretch>
              <a:fillRect/>
            </a:stretch>
          </p:blipFill>
          <p:spPr>
            <a:xfrm>
              <a:off x="2849366" y="395556"/>
              <a:ext cx="6616558" cy="5799762"/>
            </a:xfrm>
            <a:prstGeom prst="rect">
              <a:avLst/>
            </a:prstGeom>
          </p:spPr>
        </p:pic>
        <p:sp>
          <p:nvSpPr>
            <p:cNvPr id="3" name="矩形 2"/>
            <p:cNvSpPr/>
            <p:nvPr/>
          </p:nvSpPr>
          <p:spPr>
            <a:xfrm>
              <a:off x="5763669" y="6180857"/>
              <a:ext cx="628798" cy="400691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050" dirty="0"/>
                <a:t>服务主导逻辑</a:t>
              </a:r>
              <a:endParaRPr lang="zh-CN" altLang="en-US" sz="1050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219433" y="3806607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9" name="图形 8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12" name="文本框 11"/>
            <p:cNvSpPr txBox="1"/>
            <p:nvPr/>
          </p:nvSpPr>
          <p:spPr>
            <a:xfrm>
              <a:off x="1578075" y="1882781"/>
              <a:ext cx="717906" cy="4603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8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服务经济</a:t>
              </a:r>
              <a:r>
                <a:rPr lang="en-US" altLang="zh-CN" sz="8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(Vargo &amp; Lusch, 2004)</a:t>
              </a:r>
              <a:endParaRPr lang="en-US" altLang="zh-CN" sz="8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401485" y="3301955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24" name="图形 23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25" name="文本框 24"/>
            <p:cNvSpPr txBox="1"/>
            <p:nvPr/>
          </p:nvSpPr>
          <p:spPr>
            <a:xfrm>
              <a:off x="1570455" y="1898656"/>
              <a:ext cx="717906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顾客和供应商服务逻辑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(Gr</a:t>
              </a:r>
              <a:r>
                <a:rPr lang="en-US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ö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nroos, 2008)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931873" y="3683784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27" name="图形 26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28" name="文本框 27"/>
            <p:cNvSpPr txBox="1"/>
            <p:nvPr/>
          </p:nvSpPr>
          <p:spPr>
            <a:xfrm>
              <a:off x="1566010" y="1981841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顾企二元关系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(Tax, 2013)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4570647" y="3647997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0" name="图形 29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1" name="文本框 30"/>
            <p:cNvSpPr txBox="1"/>
            <p:nvPr/>
          </p:nvSpPr>
          <p:spPr>
            <a:xfrm>
              <a:off x="1567280" y="1938026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顾客是价值创造者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(Vargo &amp; Lusch, 2006)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4167274" y="446546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3" name="图形 32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4" name="文本框 33"/>
            <p:cNvSpPr txBox="1"/>
            <p:nvPr/>
          </p:nvSpPr>
          <p:spPr>
            <a:xfrm>
              <a:off x="1571090" y="1928501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资源整合者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(Vargo &amp; Lusch, 2008)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 flipH="1">
            <a:off x="6983154" y="413769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6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37" name="文本框 36"/>
            <p:cNvSpPr txBox="1"/>
            <p:nvPr/>
          </p:nvSpPr>
          <p:spPr>
            <a:xfrm>
              <a:off x="1552675" y="1888496"/>
              <a:ext cx="717906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供应商创造潜在价值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(Gr</a:t>
              </a:r>
              <a:r>
                <a:rPr lang="en-US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ö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nroos, 2011)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7150630" y="269895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39" name="图形 38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0" name="文本框 39"/>
            <p:cNvSpPr txBox="1"/>
            <p:nvPr/>
          </p:nvSpPr>
          <p:spPr>
            <a:xfrm>
              <a:off x="1567915" y="1887226"/>
              <a:ext cx="717906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价值创造存在三个区城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(Gr</a:t>
              </a:r>
              <a:r>
                <a:rPr lang="en-US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ö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nroos, 2011)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7885958" y="2603840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42" name="图形 41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3" name="文本框 42"/>
            <p:cNvSpPr txBox="1"/>
            <p:nvPr/>
          </p:nvSpPr>
          <p:spPr>
            <a:xfrm>
              <a:off x="1569185" y="1971681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电子服务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 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李雷等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2012)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 rot="840000">
            <a:off x="3618459" y="848285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45" name="图形 44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6" name="文本框 45"/>
            <p:cNvSpPr txBox="1"/>
            <p:nvPr/>
          </p:nvSpPr>
          <p:spPr>
            <a:xfrm>
              <a:off x="1584201" y="1932516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服务主导逻辑核心概念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简兆权等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2021)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3991978" y="2506873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48" name="图形 47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49" name="文本框 48"/>
            <p:cNvSpPr txBox="1"/>
            <p:nvPr/>
          </p:nvSpPr>
          <p:spPr>
            <a:xfrm>
              <a:off x="1579980" y="1901196"/>
              <a:ext cx="717906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服务系统是开放系统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(Sp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ohrer et al., 2008)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 flipH="1">
            <a:off x="6223160" y="2507208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51" name="图形 50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52" name="文本框 51"/>
            <p:cNvSpPr txBox="1"/>
            <p:nvPr/>
          </p:nvSpPr>
          <p:spPr>
            <a:xfrm>
              <a:off x="1573630" y="1955806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SDL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产生原因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李雷等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2013)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5128508" y="2892172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54" name="图形 53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55" name="文本框 54"/>
            <p:cNvSpPr txBox="1"/>
            <p:nvPr/>
          </p:nvSpPr>
          <p:spPr>
            <a:xfrm>
              <a:off x="1565375" y="1910086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服务系统概念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(Maglio &amp; Spohrer, 2008) 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550920" y="1859915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57" name="图形 56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58" name="文本框 57"/>
            <p:cNvSpPr txBox="1"/>
            <p:nvPr/>
          </p:nvSpPr>
          <p:spPr>
            <a:xfrm>
              <a:off x="1560930" y="1957076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网络互动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(Spohrer, 2008)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4167789" y="1784068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60" name="图形 59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61" name="文本框 60"/>
            <p:cNvSpPr txBox="1"/>
            <p:nvPr/>
          </p:nvSpPr>
          <p:spPr>
            <a:xfrm>
              <a:off x="1570455" y="1976126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服务系统资源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(Vargo, 2008)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 flipH="1">
            <a:off x="7667684" y="360810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20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21" name="文本框 20"/>
            <p:cNvSpPr txBox="1"/>
            <p:nvPr/>
          </p:nvSpPr>
          <p:spPr>
            <a:xfrm>
              <a:off x="1547595" y="1948821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  <a:sym typeface="+mn-ea"/>
                </a:rPr>
                <a:t>关系性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  <a:sym typeface="+mn-ea"/>
                </a:rPr>
                <a:t> (Fitz Patrick, 2015)</a:t>
              </a:r>
              <a:endParaRPr lang="zh-CN" altLang="en-US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 flipH="1">
            <a:off x="6781859" y="194821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62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63" name="文本框 62"/>
            <p:cNvSpPr txBox="1"/>
            <p:nvPr/>
          </p:nvSpPr>
          <p:spPr>
            <a:xfrm>
              <a:off x="1567915" y="1967871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顾企协同演化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吴瑶等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2013)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 flipH="1">
            <a:off x="4974014" y="163833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68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69" name="文本框 68"/>
            <p:cNvSpPr txBox="1"/>
            <p:nvPr/>
          </p:nvSpPr>
          <p:spPr>
            <a:xfrm>
              <a:off x="1560930" y="1930406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服务系统结构成分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(Maglio et al., 2009)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 flipH="1">
            <a:off x="5605839" y="172279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71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72" name="文本框 71"/>
            <p:cNvSpPr txBox="1"/>
            <p:nvPr/>
          </p:nvSpPr>
          <p:spPr>
            <a:xfrm>
              <a:off x="1572360" y="1939931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商业模式多元化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江积海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2022)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73" name="组合 72"/>
          <p:cNvGrpSpPr/>
          <p:nvPr/>
        </p:nvGrpSpPr>
        <p:grpSpPr>
          <a:xfrm flipH="1">
            <a:off x="4665404" y="238763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74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75" name="文本框 74"/>
            <p:cNvSpPr txBox="1"/>
            <p:nvPr/>
          </p:nvSpPr>
          <p:spPr>
            <a:xfrm>
              <a:off x="1567280" y="1892941"/>
              <a:ext cx="717906" cy="5219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服务系统是服务科学的视角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(Gr</a:t>
              </a:r>
              <a:r>
                <a:rPr lang="en-US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ö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nroos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2008)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 rot="20160000" flipH="1">
            <a:off x="7284144" y="1523401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77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78" name="文本框 77"/>
            <p:cNvSpPr txBox="1"/>
            <p:nvPr/>
          </p:nvSpPr>
          <p:spPr>
            <a:xfrm>
              <a:off x="1566418" y="1926422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题客参与的双刃剑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马双等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2015)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 flipH="1">
            <a:off x="5939214" y="91062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80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81" name="文本框 80"/>
            <p:cNvSpPr txBox="1"/>
            <p:nvPr/>
          </p:nvSpPr>
          <p:spPr>
            <a:xfrm>
              <a:off x="1584425" y="1922786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SDL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下商业模式创新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韵江等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2024)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 rot="18120000" flipH="1">
            <a:off x="4309169" y="108334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83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84" name="文本框 83"/>
            <p:cNvSpPr txBox="1"/>
            <p:nvPr/>
          </p:nvSpPr>
          <p:spPr>
            <a:xfrm>
              <a:off x="1567329" y="1958784"/>
              <a:ext cx="717906" cy="3067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制造业服务化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简兆权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2017)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 rot="20160000" flipH="1">
            <a:off x="6639619" y="783626"/>
            <a:ext cx="914400" cy="914400"/>
            <a:chOff x="1472629" y="1589926"/>
            <a:chExt cx="914400" cy="914400"/>
          </a:xfrm>
          <a:scene3d>
            <a:camera prst="obliqueBottomLeft"/>
            <a:lightRig rig="threePt" dir="t"/>
          </a:scene3d>
        </p:grpSpPr>
        <p:pic>
          <p:nvPicPr>
            <p:cNvPr id="89" name="图形 35" descr="苹果色 纯色填充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1472629" y="1589926"/>
              <a:ext cx="914400" cy="914400"/>
            </a:xfrm>
            <a:prstGeom prst="rect">
              <a:avLst/>
            </a:prstGeom>
            <a:sp3d>
              <a:bevelT w="165100" prst="coolSlant"/>
            </a:sp3d>
          </p:spPr>
        </p:pic>
        <p:sp>
          <p:nvSpPr>
            <p:cNvPr id="90" name="文本框 89"/>
            <p:cNvSpPr txBox="1"/>
            <p:nvPr/>
          </p:nvSpPr>
          <p:spPr>
            <a:xfrm>
              <a:off x="1562151" y="1913724"/>
              <a:ext cx="717906" cy="4140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ctr"/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数字新创企业平台嵌人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(</a:t>
              </a:r>
              <a:r>
                <a:rPr lang="zh-CN" altLang="en-US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李雪灵等</a:t>
              </a:r>
              <a:r>
                <a:rPr lang="en-US" altLang="zh-CN" sz="700" dirty="0">
                  <a:latin typeface="Times New Roman" panose="02020503050405090304" pitchFamily="18" charset="0"/>
                  <a:ea typeface="宋体" pitchFamily="2" charset="-122"/>
                  <a:cs typeface="Times New Roman" panose="02020503050405090304" pitchFamily="18" charset="0"/>
                </a:rPr>
                <a:t>, 2025)</a:t>
              </a:r>
              <a:endParaRPr lang="en-US" altLang="zh-CN" sz="700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970270" y="4721225"/>
            <a:ext cx="4540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早期服务主导逻辑</a:t>
            </a:r>
            <a:endParaRPr lang="zh-CN" altLang="en-US" sz="800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938520" y="4273550"/>
            <a:ext cx="4540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服务逻辑</a:t>
            </a:r>
            <a:endParaRPr lang="zh-CN" altLang="en-US" sz="800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864860" y="3806825"/>
            <a:ext cx="4540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服务</a:t>
            </a:r>
            <a:r>
              <a:rPr lang="zh-CN" altLang="en-US" sz="80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科学</a:t>
            </a:r>
            <a:endParaRPr lang="zh-CN" altLang="en-US" sz="800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 rot="21060000">
            <a:off x="5886450" y="2934970"/>
            <a:ext cx="1987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80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服务生态</a:t>
            </a:r>
            <a:r>
              <a:rPr lang="zh-CN" altLang="en-US" sz="800" dirty="0">
                <a:solidFill>
                  <a:schemeClr val="bg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系统</a:t>
            </a:r>
            <a:endParaRPr lang="zh-CN" altLang="en-US" sz="800" dirty="0">
              <a:solidFill>
                <a:schemeClr val="bg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3000"/>
    </mc:Choice>
    <mc:Fallback>
      <p:transition advClick="0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4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553</Words>
  <Application>WPS 文字</Application>
  <PresentationFormat>宽屏</PresentationFormat>
  <Paragraphs>56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汉仪书宋二KW</vt:lpstr>
      <vt:lpstr>等线</vt:lpstr>
      <vt:lpstr>汉仪中等线KW</vt:lpstr>
      <vt:lpstr>微软雅黑</vt:lpstr>
      <vt:lpstr>汉仪旗黑</vt:lpstr>
      <vt:lpstr>宋体</vt:lpstr>
      <vt:lpstr>Arial Unicode MS</vt:lpstr>
      <vt:lpstr>等线 Light</vt:lpstr>
      <vt:lpstr>Calibri</vt:lpstr>
      <vt:lpstr>Helvetica Neue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Jianqiao Liu</dc:creator>
  <cp:lastModifiedBy>宋文隆</cp:lastModifiedBy>
  <cp:revision>8</cp:revision>
  <dcterms:created xsi:type="dcterms:W3CDTF">2025-11-22T10:03:46Z</dcterms:created>
  <dcterms:modified xsi:type="dcterms:W3CDTF">2025-11-22T10:03:46Z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67BF570ED4F72BA941842169431B1AED_42</vt:lpwstr>
  </property>
  <property fmtid="{D5CDD505-2E9C-101B-9397-08002B2CF9AE}" pid="3" name="KSOProductBuildVer">
    <vt:lpwstr>2052-7.5.1.8994</vt:lpwstr>
  </property>
</Properties>
</file>