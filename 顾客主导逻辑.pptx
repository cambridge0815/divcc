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7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6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74" autoAdjust="0"/>
    <p:restoredTop sz="94723" autoAdjust="0"/>
  </p:normalViewPr>
  <p:slideViewPr>
    <p:cSldViewPr snapToGrid="0" showGuides="1">
      <p:cViewPr varScale="1">
        <p:scale>
          <a:sx n="93" d="100"/>
          <a:sy n="93" d="100"/>
        </p:scale>
        <p:origin x="82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A3151-0137-412E-9BE2-A3BE7AEEC58A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1A408-70FD-4B05-B938-1C939A9477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2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F8493-ECE8-62BE-83F0-C7F5F6909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521E0F-F84C-D6AC-EF9C-237753818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88050-DCDE-34BD-3668-5701D01F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08520-B67A-7402-E630-FD35E978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510EA-A125-236E-39E0-279B2CCF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766C2-B3AB-C9B7-11F7-3517606D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32002-B1DF-B1CD-C625-02C609006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F0C08A-809E-3EA8-23BD-BB06F0FF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5BC41-8D5F-3F68-041E-24E6D120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3F9D7-934D-1AD6-C40D-1D1E46D1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2D49E-55FC-3C19-5787-DD5CF703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1D40F1-ECE2-1B37-DFFE-0CAA6DA8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A64FB-00FC-108F-25D0-746D1762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18187-5555-DF42-D3B2-3F7374C0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13DBF-D064-92DE-7D33-BF6E15ED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22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BAD47-D418-9232-E040-6EA3652C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4B4573-27A9-C132-2573-A640CAB12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FBAF6F-F53A-02A3-D450-AE2943C89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08D538-623E-35E3-F82D-AA887E99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EC7D4-8404-7F35-BC7A-E1C85F8F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869794-4A6A-604B-CB68-DFD794A9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85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8FA67-CAED-FEFE-9F4A-9B82FB53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5CC9A9-9BAC-78C9-057A-57729FE76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1870E-CAF7-7889-F990-CEFD1A19A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F9ED60-EF02-49B9-6679-40E5C62FB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9E7C10-827A-36C6-3E7D-9CFB9FB66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048F9D-875E-15D7-130C-53C8942B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C3020C-C7D0-7CE9-8386-56C256B8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4C2795-39CC-46E3-5E8E-F9553C45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19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4101F-1272-A29F-C29B-F64C7D09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B1DD11-AB23-FFE4-00DF-5662177E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F1B93A-3922-2B0E-C97A-92BE0647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CC5101-8CAB-180C-7C8F-51E08719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42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BCE569-493C-2BA5-9723-5F5D6FE4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1B169A-C6D1-5B0A-BA4E-9022F094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F0133-0525-0C91-203A-0FCDD063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44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D8CD0-E582-B2FB-A3DA-5C5FC35D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B0507-D578-E2A7-367C-5726E2404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5F5108-C276-623B-3836-406EF7C39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A4CD4-EE86-0D6C-667B-12B607D2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E1882-392F-D97E-AB70-47680393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D7796-B93B-9AF3-AA7A-248B95DC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86CB3-AD8E-4169-DE64-9CBD6DCB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FC3AF2-BD15-6EEC-8086-F775E227F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1A6BAE-5C74-F576-CE1B-70F68AECA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DAEDD3-3434-C6CD-E52A-8A7F40B4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AE69C-BE93-882A-22E4-B8E4DF60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9EF647-DA45-DC99-2331-F0D09677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3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E6707-A76B-5047-D88F-9AC8F91B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C68078-1CAB-00D8-F268-F00E46E7D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6510D-CCB8-2567-F71B-9F4BE9E5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2659-111A-0FBA-0CF5-DF23CE44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6E77A-E5A8-7318-C975-C5AF1F48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3A9E96-B98C-1AC2-108D-09BEE656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D1059-7FE4-7FA2-13EC-498F46AF6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1126C-58AD-0243-7C0D-D35E0648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6AC7C-4EEF-166A-9E11-FCAB8D3B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516F6-1709-70E6-F50B-3C88E0C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4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703474-C001-0D11-62DE-8943D356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C5080-D8EB-7801-0957-39F6399BB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44F81-3552-8E35-7BE6-177C94DC3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60514-C8BD-DD96-A696-398AB63E6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A8A064-8D7A-B4F3-6260-BA4A2E8D2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5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B317F38-AC7A-0E8C-A2E4-85924295B221}"/>
              </a:ext>
            </a:extLst>
          </p:cNvPr>
          <p:cNvGrpSpPr/>
          <p:nvPr/>
        </p:nvGrpSpPr>
        <p:grpSpPr>
          <a:xfrm>
            <a:off x="2849366" y="336004"/>
            <a:ext cx="6616558" cy="6185992"/>
            <a:chOff x="2849366" y="395556"/>
            <a:chExt cx="6616558" cy="6185992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28EDA03-06E5-6E06-4420-77F2FC07D501}"/>
                </a:ext>
              </a:extLst>
            </p:cNvPr>
            <p:cNvGrpSpPr/>
            <p:nvPr/>
          </p:nvGrpSpPr>
          <p:grpSpPr>
            <a:xfrm>
              <a:off x="2849366" y="395556"/>
              <a:ext cx="6616558" cy="6185992"/>
              <a:chOff x="2849366" y="395556"/>
              <a:chExt cx="6616558" cy="6185992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5F7608B3-C30B-E2F6-9BDD-D47231070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253" b="5179"/>
              <a:stretch>
                <a:fillRect/>
              </a:stretch>
            </p:blipFill>
            <p:spPr>
              <a:xfrm>
                <a:off x="2849366" y="395556"/>
                <a:ext cx="6616558" cy="5799762"/>
              </a:xfrm>
              <a:prstGeom prst="rect">
                <a:avLst/>
              </a:prstGeom>
            </p:spPr>
          </p:pic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D9748CB-0D93-2D59-4E7D-D23205950C19}"/>
                  </a:ext>
                </a:extLst>
              </p:cNvPr>
              <p:cNvSpPr/>
              <p:nvPr/>
            </p:nvSpPr>
            <p:spPr>
              <a:xfrm>
                <a:off x="5763669" y="6180857"/>
                <a:ext cx="628798" cy="400691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/>
                  <a:t>顾客主导逻辑</a:t>
                </a:r>
              </a:p>
            </p:txBody>
          </p: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FF35BF0-E08C-2304-2C25-B05A627886C2}"/>
                </a:ext>
              </a:extLst>
            </p:cNvPr>
            <p:cNvSpPr/>
            <p:nvPr/>
          </p:nvSpPr>
          <p:spPr>
            <a:xfrm>
              <a:off x="5897795" y="4695736"/>
              <a:ext cx="528410" cy="1268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顾客是价值的核心</a:t>
              </a:r>
              <a:endParaRPr lang="en-US" altLang="zh-CN" sz="9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9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Prahalad &amp;Ramaswamy</a:t>
              </a:r>
              <a:r>
                <a:rPr lang="en-US" altLang="zh-CN" sz="1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sz="9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2004)</a:t>
              </a:r>
              <a:endParaRPr lang="zh-CN" alt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3ABCD9A-B242-5D70-8A90-AADD607B518E}"/>
              </a:ext>
            </a:extLst>
          </p:cNvPr>
          <p:cNvGrpSpPr/>
          <p:nvPr/>
        </p:nvGrpSpPr>
        <p:grpSpPr>
          <a:xfrm>
            <a:off x="5219433" y="3806607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9" name="图形 8" descr="苹果色 纯色填充">
              <a:extLst>
                <a:ext uri="{FF2B5EF4-FFF2-40B4-BE49-F238E27FC236}">
                  <a16:creationId xmlns:a16="http://schemas.microsoft.com/office/drawing/2014/main" id="{DD0FEFFC-318F-F2E3-554D-1AC75F807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C07A4C9-26B4-F4DE-1E26-F0C85D63184F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顾客之间互动（</a:t>
              </a:r>
              <a:r>
                <a:rPr lang="en-US" altLang="zh-CN" sz="7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Rihova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et al.,2013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FA319D5-C439-8718-3405-978C467D9740}"/>
              </a:ext>
            </a:extLst>
          </p:cNvPr>
          <p:cNvGrpSpPr/>
          <p:nvPr/>
        </p:nvGrpSpPr>
        <p:grpSpPr>
          <a:xfrm>
            <a:off x="5235707" y="2908307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15" name="图形 14" descr="苹果色 纯色填充">
              <a:extLst>
                <a:ext uri="{FF2B5EF4-FFF2-40B4-BE49-F238E27FC236}">
                  <a16:creationId xmlns:a16="http://schemas.microsoft.com/office/drawing/2014/main" id="{83C976B7-FF2C-414F-831F-BE56AD897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23E6ADF-719E-726B-2467-34894EDFC618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体验价值（</a:t>
              </a:r>
              <a:r>
                <a:rPr lang="en-US" altLang="zh-CN" sz="7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Rihova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et al.,2013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9ED500F-756C-97A0-3E78-61E5084924FB}"/>
              </a:ext>
            </a:extLst>
          </p:cNvPr>
          <p:cNvGrpSpPr/>
          <p:nvPr/>
        </p:nvGrpSpPr>
        <p:grpSpPr>
          <a:xfrm>
            <a:off x="6157645" y="4117295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24" name="图形 23" descr="苹果色 纯色填充">
              <a:extLst>
                <a:ext uri="{FF2B5EF4-FFF2-40B4-BE49-F238E27FC236}">
                  <a16:creationId xmlns:a16="http://schemas.microsoft.com/office/drawing/2014/main" id="{A42F7841-E71E-D3B4-178D-B35C6254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FD83D6B-1A44-9726-C4F0-A3F92B5D82E3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共创体验</a:t>
              </a:r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Prahalad &amp; Ramaswamy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2004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2F40C92-A0F9-2D59-C92E-EC0FD2C103D8}"/>
              </a:ext>
            </a:extLst>
          </p:cNvPr>
          <p:cNvGrpSpPr/>
          <p:nvPr/>
        </p:nvGrpSpPr>
        <p:grpSpPr>
          <a:xfrm>
            <a:off x="3818843" y="3269129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27" name="图形 26" descr="苹果色 纯色填充">
              <a:extLst>
                <a:ext uri="{FF2B5EF4-FFF2-40B4-BE49-F238E27FC236}">
                  <a16:creationId xmlns:a16="http://schemas.microsoft.com/office/drawing/2014/main" id="{95B29AB2-2345-360E-9AE4-756F2CDDB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37E0B9F-123D-A46A-DDF4-C061703F95F0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顾客动机导向（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Cheung,2015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57F62AC-F4C9-F9ED-2701-19CF82E7D9C8}"/>
              </a:ext>
            </a:extLst>
          </p:cNvPr>
          <p:cNvGrpSpPr/>
          <p:nvPr/>
        </p:nvGrpSpPr>
        <p:grpSpPr>
          <a:xfrm>
            <a:off x="4596682" y="3636567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0" name="图形 29" descr="苹果色 纯色填充">
              <a:extLst>
                <a:ext uri="{FF2B5EF4-FFF2-40B4-BE49-F238E27FC236}">
                  <a16:creationId xmlns:a16="http://schemas.microsoft.com/office/drawing/2014/main" id="{3E275263-7D23-151F-CD12-6594D6565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C9618DD-4A5B-6739-4599-894EC5977198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顾客技术互动（</a:t>
              </a:r>
              <a:r>
                <a:rPr lang="en-US" altLang="zh-CN" sz="7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Rihova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et al.,2013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51891C8-4542-613C-346D-DE7C816D4355}"/>
              </a:ext>
            </a:extLst>
          </p:cNvPr>
          <p:cNvGrpSpPr/>
          <p:nvPr/>
        </p:nvGrpSpPr>
        <p:grpSpPr>
          <a:xfrm>
            <a:off x="3984394" y="412701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3" name="图形 32" descr="苹果色 纯色填充">
              <a:extLst>
                <a:ext uri="{FF2B5EF4-FFF2-40B4-BE49-F238E27FC236}">
                  <a16:creationId xmlns:a16="http://schemas.microsoft.com/office/drawing/2014/main" id="{BA45CF30-26A5-549B-F0BA-074EB42D8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EBFB39C-BF42-0F8D-DBAD-8A1A13AB61B2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顾客员工互动</a:t>
              </a:r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Cheung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2016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23B177D-537E-C70A-8C12-A8B193BF8292}"/>
              </a:ext>
            </a:extLst>
          </p:cNvPr>
          <p:cNvGrpSpPr/>
          <p:nvPr/>
        </p:nvGrpSpPr>
        <p:grpSpPr>
          <a:xfrm flipH="1">
            <a:off x="7056179" y="418278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6" name="图形 35" descr="苹果色 纯色填充">
              <a:extLst>
                <a:ext uri="{FF2B5EF4-FFF2-40B4-BE49-F238E27FC236}">
                  <a16:creationId xmlns:a16="http://schemas.microsoft.com/office/drawing/2014/main" id="{1068925F-DCE6-E7FE-05B6-728F9BEC0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63E9B97-DFA9-A60F-AEE6-C6A97921B273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企业顾客互动</a:t>
              </a:r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Prahalad &amp; Ramaswamy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2004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2E8459C-A5DC-A7B9-3382-3257A2B1E7C2}"/>
              </a:ext>
            </a:extLst>
          </p:cNvPr>
          <p:cNvGrpSpPr/>
          <p:nvPr/>
        </p:nvGrpSpPr>
        <p:grpSpPr>
          <a:xfrm>
            <a:off x="7014105" y="337586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9" name="图形 38" descr="苹果色 纯色填充">
              <a:extLst>
                <a:ext uri="{FF2B5EF4-FFF2-40B4-BE49-F238E27FC236}">
                  <a16:creationId xmlns:a16="http://schemas.microsoft.com/office/drawing/2014/main" id="{427AFF2A-3172-7C63-5E71-D455606A1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49A3B67-F0BA-6D1B-FDE4-B16FD2F11A15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客户体验（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Heinonen et al.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2010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377BEBF-17DC-B346-8862-FC2EF480BF13}"/>
              </a:ext>
            </a:extLst>
          </p:cNvPr>
          <p:cNvGrpSpPr/>
          <p:nvPr/>
        </p:nvGrpSpPr>
        <p:grpSpPr>
          <a:xfrm>
            <a:off x="7523373" y="2773385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42" name="图形 41" descr="苹果色 纯色填充">
              <a:extLst>
                <a:ext uri="{FF2B5EF4-FFF2-40B4-BE49-F238E27FC236}">
                  <a16:creationId xmlns:a16="http://schemas.microsoft.com/office/drawing/2014/main" id="{A802D82B-E3EA-673B-ADA2-7BAC7C15A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12DEB3A-4FF5-F551-D61D-2AC34CDE56BA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使用价值</a:t>
              </a:r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Heinonen et al.,2010)</a:t>
              </a:r>
              <a:endParaRPr lang="zh-CN" altLang="en-US" sz="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53F9F04-704B-D5CB-551E-5368750E538C}"/>
              </a:ext>
            </a:extLst>
          </p:cNvPr>
          <p:cNvGrpSpPr/>
          <p:nvPr/>
        </p:nvGrpSpPr>
        <p:grpSpPr>
          <a:xfrm>
            <a:off x="6220054" y="2321485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45" name="图形 44" descr="苹果色 纯色填充">
              <a:extLst>
                <a:ext uri="{FF2B5EF4-FFF2-40B4-BE49-F238E27FC236}">
                  <a16:creationId xmlns:a16="http://schemas.microsoft.com/office/drawing/2014/main" id="{41451FD8-6519-ECEA-4B4F-6A16084C9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922212-9600-47DF-F658-DEFDE2835919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共创意图（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Cheung,2016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5D29C0E-CBBE-18F9-CA2D-D5199FB77862}"/>
              </a:ext>
            </a:extLst>
          </p:cNvPr>
          <p:cNvGrpSpPr/>
          <p:nvPr/>
        </p:nvGrpSpPr>
        <p:grpSpPr>
          <a:xfrm>
            <a:off x="4762233" y="2134128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48" name="图形 47" descr="苹果色 纯色填充">
              <a:extLst>
                <a:ext uri="{FF2B5EF4-FFF2-40B4-BE49-F238E27FC236}">
                  <a16:creationId xmlns:a16="http://schemas.microsoft.com/office/drawing/2014/main" id="{1C8147D4-04BC-C6F4-4DE2-AFE5AE07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437A456-AD9A-3290-128C-7A70AFA448DC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沟通价值（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Finne &amp; Grönroos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2017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98A20AD-54C7-02D5-B83D-C7BFE27B19D9}"/>
              </a:ext>
            </a:extLst>
          </p:cNvPr>
          <p:cNvGrpSpPr/>
          <p:nvPr/>
        </p:nvGrpSpPr>
        <p:grpSpPr>
          <a:xfrm flipH="1">
            <a:off x="6684170" y="1735683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51" name="图形 50" descr="苹果色 纯色填充">
              <a:extLst>
                <a:ext uri="{FF2B5EF4-FFF2-40B4-BE49-F238E27FC236}">
                  <a16:creationId xmlns:a16="http://schemas.microsoft.com/office/drawing/2014/main" id="{30297E18-41CC-9052-1F08-62FF9F359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50E77BA-CCAB-AD1E-92E4-C2EF95114D28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品牌顾客互动</a:t>
              </a:r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Fang et al.,2021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7A4A6DC-0720-76D6-48A2-0A6331EBCEB4}"/>
              </a:ext>
            </a:extLst>
          </p:cNvPr>
          <p:cNvGrpSpPr/>
          <p:nvPr/>
        </p:nvGrpSpPr>
        <p:grpSpPr>
          <a:xfrm>
            <a:off x="5571738" y="1881252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54" name="图形 53" descr="苹果色 纯色填充">
              <a:extLst>
                <a:ext uri="{FF2B5EF4-FFF2-40B4-BE49-F238E27FC236}">
                  <a16:creationId xmlns:a16="http://schemas.microsoft.com/office/drawing/2014/main" id="{BA1DE4EC-E518-27A2-7494-B1ED4CD3B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F747B63-60FD-7195-53DD-69279CBE7B0F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服务共创（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Cheung et al.,2021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9EE8413-2540-7764-0373-8FE7BFA40182}"/>
              </a:ext>
            </a:extLst>
          </p:cNvPr>
          <p:cNvGrpSpPr/>
          <p:nvPr/>
        </p:nvGrpSpPr>
        <p:grpSpPr>
          <a:xfrm>
            <a:off x="3748817" y="178444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57" name="图形 56" descr="苹果色 纯色填充">
              <a:extLst>
                <a:ext uri="{FF2B5EF4-FFF2-40B4-BE49-F238E27FC236}">
                  <a16:creationId xmlns:a16="http://schemas.microsoft.com/office/drawing/2014/main" id="{40FBAA57-201F-80D3-3D28-FA219AC9D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0269845-06D5-1BB8-BB20-E9F0B707F201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顾客自我建构（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Kemppainen &amp; Uusitalo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2022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30D4767-D4A2-8CA5-2AA9-6AB516C06858}"/>
              </a:ext>
            </a:extLst>
          </p:cNvPr>
          <p:cNvGrpSpPr/>
          <p:nvPr/>
        </p:nvGrpSpPr>
        <p:grpSpPr>
          <a:xfrm>
            <a:off x="5708299" y="961743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60" name="图形 59" descr="苹果色 纯色填充">
              <a:extLst>
                <a:ext uri="{FF2B5EF4-FFF2-40B4-BE49-F238E27FC236}">
                  <a16:creationId xmlns:a16="http://schemas.microsoft.com/office/drawing/2014/main" id="{E2B734D0-F44A-601A-3F2D-F7719BF1F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00F249CC-B6D7-5B2B-1C6A-BC63BFA31DB5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情感价值（</a:t>
              </a:r>
              <a:r>
                <a:rPr lang="en-US" altLang="zh-CN" sz="7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Buzova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et al.,2023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BF2590C-C863-BFD3-A4BD-7D341F1334B5}"/>
              </a:ext>
            </a:extLst>
          </p:cNvPr>
          <p:cNvGrpSpPr/>
          <p:nvPr/>
        </p:nvGrpSpPr>
        <p:grpSpPr>
          <a:xfrm>
            <a:off x="5969339" y="326954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11" name="图形 10" descr="苹果色 纯色填充">
              <a:extLst>
                <a:ext uri="{FF2B5EF4-FFF2-40B4-BE49-F238E27FC236}">
                  <a16:creationId xmlns:a16="http://schemas.microsoft.com/office/drawing/2014/main" id="{E3EA3750-DBDD-CE7D-2A23-10FEAC3DB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4C157AB-CF37-8A46-7955-AE3EE7AE9A9C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客户参与（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Mickelsson,2013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887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161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Jianqiao Liu</dc:creator>
  <cp:lastModifiedBy>Jianqiao Liu</cp:lastModifiedBy>
  <cp:revision>4</cp:revision>
  <dcterms:created xsi:type="dcterms:W3CDTF">2025-09-11T02:39:38Z</dcterms:created>
  <dcterms:modified xsi:type="dcterms:W3CDTF">2025-11-19T11:46:53Z</dcterms:modified>
</cp:coreProperties>
</file>