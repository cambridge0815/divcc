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760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93" d="100"/>
          <a:sy n="93" d="100"/>
        </p:scale>
        <p:origin x="369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4A3151-0137-412E-9BE2-A3BE7AEEC58A}" type="datetimeFigureOut">
              <a:rPr lang="zh-CN" altLang="en-US" smtClean="0"/>
              <a:t>2025/9/11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11A408-70FD-4B05-B938-1C939A94778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89204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8F8493-ECE8-62BE-83F0-C7F5F6909F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B521E0F-F84C-D6AC-EF9C-2377538181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4F88050-DCDE-34BD-3668-5701D01F7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CBCA4-43E0-4EAE-B433-A8A8F6F523A9}" type="datetimeFigureOut">
              <a:rPr lang="zh-CN" altLang="en-US" smtClean="0"/>
              <a:t>2025/9/11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A208520-B67A-7402-E630-FD35E9786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14510EA-A125-236E-39E0-279B2CCF9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8358E-4C42-4246-8A2C-AE29505415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9913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3000"/>
    </mc:Choice>
    <mc:Fallback xmlns="">
      <p:transition advClick="0" advTm="300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7766C2-B3AB-C9B7-11F7-3517606DC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F532002-B1DF-B1CD-C625-02C6090065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7F0C08A-809E-3EA8-23BD-BB06F0FF8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CBCA4-43E0-4EAE-B433-A8A8F6F523A9}" type="datetimeFigureOut">
              <a:rPr lang="zh-CN" altLang="en-US" smtClean="0"/>
              <a:t>2025/9/11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6F5BC41-8D5F-3F68-041E-24E6D120F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3B3F9D7-934D-1AD6-C40D-1D1E46D16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8358E-4C42-4246-8A2C-AE29505415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7994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3000"/>
    </mc:Choice>
    <mc:Fallback xmlns="">
      <p:transition advClick="0" advTm="3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F2D49E-55FC-3C19-5787-DD5CF703E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91D40F1-ECE2-1B37-DFFE-0CAA6DA87B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3A64FB-00FC-108F-25D0-746D17621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CBCA4-43E0-4EAE-B433-A8A8F6F523A9}" type="datetimeFigureOut">
              <a:rPr lang="zh-CN" altLang="en-US" smtClean="0"/>
              <a:t>2025/9/11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1618187-5555-DF42-D3B2-3F7374C04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F813DBF-D064-92DE-7D33-BF6E15ED4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8358E-4C42-4246-8A2C-AE29505415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6220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3000"/>
    </mc:Choice>
    <mc:Fallback xmlns="">
      <p:transition advClick="0" advTm="3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7BAD47-D418-9232-E040-6EA3652C9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94B4573-27A9-C132-2573-A640CAB128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0FBAF6F-F53A-02A3-D450-AE2943C89F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908D538-623E-35E3-F82D-AA887E996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CBCA4-43E0-4EAE-B433-A8A8F6F523A9}" type="datetimeFigureOut">
              <a:rPr lang="zh-CN" altLang="en-US" smtClean="0"/>
              <a:t>2025/9/11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DDEC7D4-8404-7F35-BC7A-E1C85F8FA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9869794-4A6A-604B-CB68-DFD794A95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8358E-4C42-4246-8A2C-AE29505415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9857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3000"/>
    </mc:Choice>
    <mc:Fallback xmlns="">
      <p:transition advClick="0" advTm="3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08FA67-CAED-FEFE-9F4A-9B82FB53A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C5CC9A9-9BAC-78C9-057A-57729FE76A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941870E-CAF7-7889-F990-CEFD1A19A8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5F9ED60-EF02-49B9-6679-40E5C62FBF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D9E7C10-827A-36C6-3E7D-9CFB9FB669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D048F9D-875E-15D7-130C-53C8942BE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CBCA4-43E0-4EAE-B433-A8A8F6F523A9}" type="datetimeFigureOut">
              <a:rPr lang="zh-CN" altLang="en-US" smtClean="0"/>
              <a:t>2025/9/11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9C3020C-C7D0-7CE9-8386-56C256B83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F4C2795-39CC-46E3-5E8E-F9553C45C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8358E-4C42-4246-8A2C-AE29505415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4190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3000"/>
    </mc:Choice>
    <mc:Fallback xmlns="">
      <p:transition advClick="0" advTm="3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D4101F-1272-A29F-C29B-F64C7D090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CB1DD11-AB23-FFE4-00DF-5662177E3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CBCA4-43E0-4EAE-B433-A8A8F6F523A9}" type="datetimeFigureOut">
              <a:rPr lang="zh-CN" altLang="en-US" smtClean="0"/>
              <a:t>2025/9/11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EF1B93A-3922-2B0E-C97A-92BE06473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2CC5101-8CAB-180C-7C8F-51E087193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8358E-4C42-4246-8A2C-AE29505415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3421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3000"/>
    </mc:Choice>
    <mc:Fallback xmlns="">
      <p:transition advClick="0" advTm="3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7BCE569-493C-2BA5-9723-5F5D6FE42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CBCA4-43E0-4EAE-B433-A8A8F6F523A9}" type="datetimeFigureOut">
              <a:rPr lang="zh-CN" altLang="en-US" smtClean="0"/>
              <a:t>2025/9/11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61B169A-C6D1-5B0A-BA4E-9022F0949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9DF0133-0525-0C91-203A-0FCDD063C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8358E-4C42-4246-8A2C-AE29505415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1447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3000"/>
    </mc:Choice>
    <mc:Fallback xmlns="">
      <p:transition advClick="0" advTm="3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FD8CD0-E582-B2FB-A3DA-5C5FC35DC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BB0507-D578-E2A7-367C-5726E2404F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65F5108-C276-623B-3836-406EF7C397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52A4CD4-EE86-0D6C-667B-12B607D2B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CBCA4-43E0-4EAE-B433-A8A8F6F523A9}" type="datetimeFigureOut">
              <a:rPr lang="zh-CN" altLang="en-US" smtClean="0"/>
              <a:t>2025/9/11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13E1882-392F-D97E-AB70-476803937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B5D7796-B93B-9AF3-AA7A-248B95DC0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8358E-4C42-4246-8A2C-AE29505415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168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3000"/>
    </mc:Choice>
    <mc:Fallback xmlns="">
      <p:transition advClick="0" advTm="3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686CB3-AD8E-4169-DE64-9CBD6DCB1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EFC3AF2-BD15-6EEC-8086-F775E227F0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71A6BAE-5C74-F576-CE1B-70F68AECA4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ADAEDD3-3434-C6CD-E52A-8A7F40B44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CBCA4-43E0-4EAE-B433-A8A8F6F523A9}" type="datetimeFigureOut">
              <a:rPr lang="zh-CN" altLang="en-US" smtClean="0"/>
              <a:t>2025/9/11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9BAE69C-BE93-882A-22E4-B8E4DF60A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E9EF647-DA45-DC99-2331-F0D096773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8358E-4C42-4246-8A2C-AE29505415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1837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3000"/>
    </mc:Choice>
    <mc:Fallback xmlns="">
      <p:transition advClick="0" advTm="300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FE6707-A76B-5047-D88F-9AC8F91B8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9C68078-1CAB-00D8-F268-F00E46E7DA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36510D-CCB8-2567-F71B-9F4BE9E50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CBCA4-43E0-4EAE-B433-A8A8F6F523A9}" type="datetimeFigureOut">
              <a:rPr lang="zh-CN" altLang="en-US" smtClean="0"/>
              <a:t>2025/9/11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8C2659-111A-0FBA-0CF5-DF23CE44A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FD6E77A-E5A8-7318-C975-C5AF1F480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8358E-4C42-4246-8A2C-AE29505415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4708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3000"/>
    </mc:Choice>
    <mc:Fallback xmlns="">
      <p:transition advClick="0" advTm="300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93A9E96-B98C-1AC2-108D-09BEE65646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78D1059-7FE4-7FA2-13EC-498F46AF65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EE1126C-58AD-0243-7C0D-D35E06486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CBCA4-43E0-4EAE-B433-A8A8F6F523A9}" type="datetimeFigureOut">
              <a:rPr lang="zh-CN" altLang="en-US" smtClean="0"/>
              <a:t>2025/9/11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C6AC7C-4EEF-166A-9E11-FCAB8D3BE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D3516F6-1709-70E6-F50B-3C88E0C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8358E-4C42-4246-8A2C-AE29505415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2241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3000"/>
    </mc:Choice>
    <mc:Fallback xmlns="">
      <p:transition advClick="0" advTm="300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629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3000"/>
    </mc:Choice>
    <mc:Fallback xmlns="">
      <p:transition advClick="0" advTm="3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D703474-C001-0D11-62DE-8943D3566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71C5080-D8EB-7801-0957-39F6399BB2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CD44F81-3552-8E35-7BE6-177C94DC3D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6CBCA4-43E0-4EAE-B433-A8A8F6F523A9}" type="datetimeFigureOut">
              <a:rPr lang="zh-CN" altLang="en-US" smtClean="0"/>
              <a:t>2025/9/11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060514-C8BD-DD96-A696-398AB63E6D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A8A064-8D7A-B4F3-6260-BA4A2E8D28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88358E-4C42-4246-8A2C-AE29505415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48548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4="http://schemas.microsoft.com/office/powerpoint/2010/main">
    <mc:Choice Requires="p14">
      <p:transition p14:dur="0" advClick="0" advTm="3000"/>
    </mc:Choice>
    <mc:Fallback xmlns="">
      <p:transition advClick="0" advTm="3000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7F5AEBA-F111-E588-224E-801EDA25C5F8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53" b="5179"/>
          <a:stretch>
            <a:fillRect/>
          </a:stretch>
        </p:blipFill>
        <p:spPr>
          <a:xfrm>
            <a:off x="2849366" y="395556"/>
            <a:ext cx="6616558" cy="5799762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206F9B2E-76C1-6402-8C5D-C014C4772969}"/>
              </a:ext>
            </a:extLst>
          </p:cNvPr>
          <p:cNvSpPr/>
          <p:nvPr/>
        </p:nvSpPr>
        <p:spPr>
          <a:xfrm>
            <a:off x="5763669" y="6180857"/>
            <a:ext cx="628798" cy="40069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dirty="0"/>
              <a:t>产品主导逻辑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659F147-C69D-92BA-D469-0F9D0AA3BBDC}"/>
              </a:ext>
            </a:extLst>
          </p:cNvPr>
          <p:cNvSpPr/>
          <p:nvPr/>
        </p:nvSpPr>
        <p:spPr>
          <a:xfrm>
            <a:off x="5763669" y="4528270"/>
            <a:ext cx="751032" cy="27709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产品是财富</a:t>
            </a:r>
            <a:endParaRPr lang="en-US" altLang="zh-CN" sz="6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en-US" sz="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Smith, 1776</a:t>
            </a:r>
            <a:r>
              <a:rPr lang="zh-CN" altLang="en-US" sz="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DF6F666-DFA5-EF61-7C88-050DE04BA75B}"/>
              </a:ext>
            </a:extLst>
          </p:cNvPr>
          <p:cNvSpPr/>
          <p:nvPr/>
        </p:nvSpPr>
        <p:spPr>
          <a:xfrm>
            <a:off x="5550401" y="4028209"/>
            <a:ext cx="679993" cy="32471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有形资源（</a:t>
            </a:r>
            <a:r>
              <a:rPr lang="en-US" altLang="zh-CN" sz="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Edvardsson et al., 2011</a:t>
            </a:r>
            <a:r>
              <a:rPr lang="zh-CN" altLang="en-US" sz="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D9DB64C-2105-6150-9011-CDE75529DB9F}"/>
              </a:ext>
            </a:extLst>
          </p:cNvPr>
          <p:cNvSpPr/>
          <p:nvPr/>
        </p:nvSpPr>
        <p:spPr>
          <a:xfrm>
            <a:off x="4987381" y="3604346"/>
            <a:ext cx="660944" cy="36281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服务对象化（</a:t>
            </a:r>
            <a:r>
              <a:rPr lang="en-US" altLang="zh-CN" sz="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Lindberg &amp; Nordin, 2008</a:t>
            </a:r>
            <a:r>
              <a:rPr lang="zh-CN" altLang="en-US" sz="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13D5397-45CE-E01C-4E6B-6908F8D69AC6}"/>
              </a:ext>
            </a:extLst>
          </p:cNvPr>
          <p:cNvSpPr/>
          <p:nvPr/>
        </p:nvSpPr>
        <p:spPr>
          <a:xfrm>
            <a:off x="7526012" y="3024187"/>
            <a:ext cx="660944" cy="36281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商品交换</a:t>
            </a:r>
            <a:endParaRPr lang="en-US" altLang="zh-CN" sz="6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en-US" sz="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Vargo &amp; Lusch, 20040</a:t>
            </a:r>
            <a:endParaRPr lang="zh-CN" altLang="en-US" sz="6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D362977-5FAF-9784-ACDF-9B0D4FEEC5F8}"/>
              </a:ext>
            </a:extLst>
          </p:cNvPr>
          <p:cNvSpPr/>
          <p:nvPr/>
        </p:nvSpPr>
        <p:spPr>
          <a:xfrm>
            <a:off x="7034225" y="3590058"/>
            <a:ext cx="660944" cy="36281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价值共同生产</a:t>
            </a:r>
            <a:endParaRPr lang="en-US" altLang="zh-CN" sz="6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en-US" sz="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Ramirez, 1999</a:t>
            </a:r>
            <a:r>
              <a:rPr lang="zh-CN" altLang="en-US" sz="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B83CC40-07AE-02D8-F9FF-727C76E3DD54}"/>
              </a:ext>
            </a:extLst>
          </p:cNvPr>
          <p:cNvSpPr/>
          <p:nvPr/>
        </p:nvSpPr>
        <p:spPr>
          <a:xfrm>
            <a:off x="7195540" y="4179741"/>
            <a:ext cx="660944" cy="36281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共同生产者</a:t>
            </a:r>
            <a:endParaRPr lang="en-US" altLang="zh-CN" sz="6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en-US" sz="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Wikström, 1996</a:t>
            </a:r>
            <a:r>
              <a:rPr lang="zh-CN" altLang="en-US" sz="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8ABE655-C166-6C65-1FE3-931D8B7D6110}"/>
              </a:ext>
            </a:extLst>
          </p:cNvPr>
          <p:cNvSpPr/>
          <p:nvPr/>
        </p:nvSpPr>
        <p:spPr>
          <a:xfrm>
            <a:off x="4456776" y="3998786"/>
            <a:ext cx="660944" cy="36281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商品成本</a:t>
            </a:r>
            <a:endParaRPr lang="en-US" altLang="zh-CN" sz="6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en-US" sz="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（马元驹和潘迪</a:t>
            </a:r>
            <a:r>
              <a:rPr lang="en-US" altLang="zh-CN" sz="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2018</a:t>
            </a:r>
            <a:r>
              <a:rPr lang="zh-CN" altLang="en-US" sz="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9D6AE56-AD65-5F11-64AA-E325D1C07192}"/>
              </a:ext>
            </a:extLst>
          </p:cNvPr>
          <p:cNvSpPr/>
          <p:nvPr/>
        </p:nvSpPr>
        <p:spPr>
          <a:xfrm>
            <a:off x="6413338" y="4004396"/>
            <a:ext cx="660944" cy="36281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价值创造</a:t>
            </a:r>
            <a:endParaRPr lang="en-US" altLang="zh-CN" sz="6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en-US" sz="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Norman &amp; Ramirez, 1993</a:t>
            </a:r>
            <a:r>
              <a:rPr lang="zh-CN" altLang="en-US" sz="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50BA78E-B846-698B-F381-3CBC84506712}"/>
              </a:ext>
            </a:extLst>
          </p:cNvPr>
          <p:cNvSpPr/>
          <p:nvPr/>
        </p:nvSpPr>
        <p:spPr>
          <a:xfrm>
            <a:off x="4162438" y="3509096"/>
            <a:ext cx="660944" cy="36281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交换价值</a:t>
            </a:r>
            <a:endParaRPr lang="en-US" altLang="zh-CN" sz="6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en-US" sz="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（李耀和王新新</a:t>
            </a:r>
            <a:r>
              <a:rPr lang="en-US" altLang="zh-CN" sz="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2011</a:t>
            </a:r>
            <a:r>
              <a:rPr lang="zh-CN" altLang="en-US" sz="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50E171A-1311-7BCA-0B33-6DAC24326B0C}"/>
              </a:ext>
            </a:extLst>
          </p:cNvPr>
          <p:cNvSpPr/>
          <p:nvPr/>
        </p:nvSpPr>
        <p:spPr>
          <a:xfrm>
            <a:off x="4823382" y="2126203"/>
            <a:ext cx="660944" cy="36281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价值嵌入产品</a:t>
            </a:r>
            <a:endParaRPr lang="en-US" altLang="zh-CN" sz="6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en-US" sz="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（杜勇等</a:t>
            </a:r>
            <a:r>
              <a:rPr lang="en-US" altLang="zh-CN" sz="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2022</a:t>
            </a:r>
            <a:r>
              <a:rPr lang="zh-CN" altLang="en-US" sz="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DDFEB2F-C123-9243-F37E-89B970B19B15}"/>
              </a:ext>
            </a:extLst>
          </p:cNvPr>
          <p:cNvSpPr/>
          <p:nvPr/>
        </p:nvSpPr>
        <p:spPr>
          <a:xfrm>
            <a:off x="6424058" y="2018568"/>
            <a:ext cx="660944" cy="36281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价值线性评估</a:t>
            </a:r>
            <a:endParaRPr lang="en-US" altLang="zh-CN" sz="6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en-US" sz="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（李达和张绍文</a:t>
            </a:r>
            <a:r>
              <a:rPr lang="en-US" altLang="zh-CN" sz="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2019</a:t>
            </a:r>
            <a:r>
              <a:rPr lang="zh-CN" altLang="en-US" sz="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BB892B9-72BA-E543-E645-CEAAA512A153}"/>
              </a:ext>
            </a:extLst>
          </p:cNvPr>
          <p:cNvSpPr/>
          <p:nvPr/>
        </p:nvSpPr>
        <p:spPr>
          <a:xfrm>
            <a:off x="5147936" y="2693842"/>
            <a:ext cx="660944" cy="36281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使用价值</a:t>
            </a:r>
            <a:endParaRPr lang="en-US" altLang="zh-CN" sz="6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en-US" sz="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Fang, 2017</a:t>
            </a:r>
            <a:r>
              <a:rPr lang="zh-CN" altLang="en-US" sz="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3D4DAAA-2105-C68D-06A2-575E20FB9B9C}"/>
              </a:ext>
            </a:extLst>
          </p:cNvPr>
          <p:cNvSpPr/>
          <p:nvPr/>
        </p:nvSpPr>
        <p:spPr>
          <a:xfrm>
            <a:off x="6247044" y="2689946"/>
            <a:ext cx="660944" cy="36281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价值单向流通</a:t>
            </a:r>
            <a:endParaRPr lang="en-US" altLang="zh-CN" sz="6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en-US" sz="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（纪春礼等，</a:t>
            </a:r>
            <a:r>
              <a:rPr lang="en-US" altLang="zh-CN" sz="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2015</a:t>
            </a:r>
            <a:r>
              <a:rPr lang="zh-CN" altLang="en-US" sz="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67EDAE3-433F-487D-0720-A34981032FC8}"/>
              </a:ext>
            </a:extLst>
          </p:cNvPr>
          <p:cNvSpPr/>
          <p:nvPr/>
        </p:nvSpPr>
        <p:spPr>
          <a:xfrm>
            <a:off x="5731523" y="3205595"/>
            <a:ext cx="660944" cy="36281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企业单独创造价值</a:t>
            </a:r>
            <a:endParaRPr lang="en-US" altLang="zh-CN" sz="6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en-US" sz="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（李耀</a:t>
            </a:r>
            <a:r>
              <a:rPr lang="en-US" altLang="zh-CN" sz="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2014</a:t>
            </a:r>
            <a:r>
              <a:rPr lang="zh-CN" altLang="en-US" sz="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9C1012A-9724-BE53-CF8D-6306AC3AB866}"/>
              </a:ext>
            </a:extLst>
          </p:cNvPr>
          <p:cNvSpPr/>
          <p:nvPr/>
        </p:nvSpPr>
        <p:spPr>
          <a:xfrm>
            <a:off x="5916572" y="1457974"/>
            <a:ext cx="660944" cy="36281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消费者孤立</a:t>
            </a:r>
            <a:endParaRPr lang="en-US" altLang="zh-CN" sz="6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en-US" sz="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（程宣梅等</a:t>
            </a:r>
            <a:r>
              <a:rPr lang="en-US" altLang="zh-CN" sz="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2025</a:t>
            </a:r>
            <a:r>
              <a:rPr lang="zh-CN" altLang="en-US" sz="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B4424F8-2DEA-69C2-CAC7-3185E9FAAC38}"/>
              </a:ext>
            </a:extLst>
          </p:cNvPr>
          <p:cNvSpPr/>
          <p:nvPr/>
        </p:nvSpPr>
        <p:spPr>
          <a:xfrm>
            <a:off x="5648325" y="2327129"/>
            <a:ext cx="660944" cy="36281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固有价值</a:t>
            </a:r>
            <a:endParaRPr lang="en-US" altLang="zh-CN" sz="6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en-US" sz="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（孙嘉宇</a:t>
            </a:r>
            <a:r>
              <a:rPr lang="en-US" altLang="zh-CN" sz="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2022</a:t>
            </a:r>
            <a:r>
              <a:rPr lang="zh-CN" altLang="en-US" sz="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1158133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3000"/>
    </mc:Choice>
    <mc:Fallback xmlns="">
      <p:transition advClick="0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8" grpId="0" animBg="1"/>
      <p:bldP spid="19" grpId="0" animBg="1"/>
      <p:bldP spid="21" grpId="0" animBg="1"/>
      <p:bldP spid="22" grpId="0" animBg="1"/>
      <p:bldP spid="23" grpId="0" animBg="1"/>
      <p:bldP spid="26" grpId="0" animBg="1"/>
      <p:bldP spid="27" grpId="0" animBg="1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569</TotalTime>
  <Words>144</Words>
  <Application>Microsoft Office PowerPoint</Application>
  <PresentationFormat>宽屏</PresentationFormat>
  <Paragraphs>31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Jianqiao Liu</dc:creator>
  <cp:lastModifiedBy>Jianqiao Liu</cp:lastModifiedBy>
  <cp:revision>2</cp:revision>
  <dcterms:created xsi:type="dcterms:W3CDTF">2025-09-11T02:39:38Z</dcterms:created>
  <dcterms:modified xsi:type="dcterms:W3CDTF">2025-09-11T12:10:05Z</dcterms:modified>
</cp:coreProperties>
</file>